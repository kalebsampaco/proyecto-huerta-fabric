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 el reto de conectar sensores simulados de una huerta con una plataforma de analitica. Aclarar que la telemetria es sintetica y que la ingesta usa el endpoint Kafka de Fabric, no una API HTTP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pregunta que organiza el proyecto. La respuesta no es solo el reporte: se demuestra un flujo reproducible desde un productor local hasta un modelo semantico.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los 180 dias x 1000 registros. El marcador persistente impide reenviar el historico en cada reinicio. El flujo en vivo continua despues del backfill. La barra 95/5 refleja el patron sintetico de una anomalia cada 20 eventos, no una medicion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de izquierda a derecha. Aclarar que Eventstream recibe directamente Kafka y escribe Bronze. El pipeline no copia esos mismos datos; ejecuta el notebook de procesamiento. Gold y la dimension calendario alimentan el modelo semantico.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la separacion entre imagen reproducible y secreto de ejecucion. El usuario obtiene bootstrap, topic y connection string desde el panel SAS Key Authentication en Fabric, y completa .env local. El marcador se conserva en un volumen nombrado.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captura del canvas como evidencia del flujo real. El Eventstream se publica antes de copiar las credenciales SAS. El destino escribe JSON directamente en Bronze y sirve como punto de reprocesamiento.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mantiene la entrada. Silver convierte tipos, aplica reglas didacticas y deduplica. Los rechazados se guardan en quarantine, separado de Silver. Gold agrupa por fecha, parcela y cultivo. Aclarar que humedad baja &lt;30 es un umbral para demostrar calidad, no consejo agronomico.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captura del notebook documenta los resultados de la ejecucion inicial; la captura del pipeline confirma que la actividad Notebook termino correctamente. En capacidad Trial, si aparece HTTP 430, revisar Monitoring y evitar ejecuciones repetidas.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dimension calendario es fisica porque el modelo es Direct Lake on SQL, que no permite tablas calculadas DAX que dependan de Direct Lake. Month_name se ordena por month_number. Mostrar la relacion 1 a muchos.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primero la pagina de estado, luego tendencias. Explicar que el segmentador usa dim_fecha, el filtro se sincroniza y los meses se ordenan por month_number. Los valores son sinteticos.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los limites como decisiones responsables. El simulador no se conecta a sensores fisicos. Las mediciones, cultivos y umbrales son sinteticos; se valida arquitectura y analitica, no agronomia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sugerido: la aportacion es conectar todos los pasos y hacer visibles calidad, trazabilidad y limitaciones. Invitar preguntas sobre Kafka, medallion, Direct Lake o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103B2E"/>
          </a:solidFill>
          <a:ln w="10160">
            <a:solidFill>
              <a:srgbClr val="103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97680" cy="6858000"/>
          </a:xfrm>
          <a:prstGeom prst="rect">
            <a:avLst>
              <a:gd name="adj" fmla="val 1702"/>
            </a:avLst>
          </a:prstGeom>
          <a:solidFill>
            <a:srgbClr val="174D3C"/>
          </a:solidFill>
          <a:ln w="10160">
            <a:solidFill>
              <a:srgbClr val="174D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12064"/>
            <a:ext cx="90526" cy="90526"/>
          </a:xfrm>
          <a:prstGeom prst="roundRect">
            <a:avLst>
              <a:gd name="adj" fmla="val 80808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9069" y="512064"/>
            <a:ext cx="90526" cy="90526"/>
          </a:xfrm>
          <a:prstGeom prst="roundRect">
            <a:avLst>
              <a:gd name="adj" fmla="val 80808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770" y="512064"/>
            <a:ext cx="90526" cy="90526"/>
          </a:xfrm>
          <a:prstGeom prst="roundRect">
            <a:avLst>
              <a:gd name="adj" fmla="val 80808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32765"/>
            <a:ext cx="90526" cy="90526"/>
          </a:xfrm>
          <a:prstGeom prst="roundRect">
            <a:avLst>
              <a:gd name="adj" fmla="val 80808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9" y="632765"/>
            <a:ext cx="90526" cy="90526"/>
          </a:xfrm>
          <a:prstGeom prst="roundRect">
            <a:avLst>
              <a:gd name="adj" fmla="val 80808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0821" y="507035"/>
            <a:ext cx="7644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3898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B8D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UNIVERSITARIO · IOT + ANALITICA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2880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Huerta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895344"/>
            <a:ext cx="5943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5E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los sensores a la analitica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D5E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Microsoft Fabric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06577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 /  Kafka  /  Eventstream  /  Lakehouse  /  Power BI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99218" y="4167378"/>
            <a:ext cx="0" cy="-2055114"/>
          </a:xfrm>
          <a:prstGeom prst="line">
            <a:avLst/>
          </a:prstGeom>
          <a:noFill/>
          <a:ln w="27940">
            <a:solidFill>
              <a:srgbClr val="8FB89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 rot="-1680000">
            <a:off x="9292133" y="2608326"/>
            <a:ext cx="1020470" cy="396850"/>
          </a:xfrm>
          <a:prstGeom prst="ellipse">
            <a:avLst/>
          </a:prstGeom>
          <a:solidFill>
            <a:srgbClr val="67A17B">
              <a:alpha val="92000"/>
            </a:srgbClr>
          </a:solidFill>
          <a:ln w="12700">
            <a:solidFill>
              <a:srgbClr val="67A17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560000">
            <a:off x="10128352" y="2253996"/>
            <a:ext cx="1020470" cy="396850"/>
          </a:xfrm>
          <a:prstGeom prst="ellipse">
            <a:avLst/>
          </a:prstGeom>
          <a:solidFill>
            <a:srgbClr val="78BE20">
              <a:alpha val="95000"/>
            </a:srgbClr>
          </a:solidFill>
          <a:ln w="12700">
            <a:solidFill>
              <a:srgbClr val="78BE2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560000">
            <a:off x="9263786" y="3316986"/>
            <a:ext cx="1020470" cy="396850"/>
          </a:xfrm>
          <a:prstGeom prst="ellipse">
            <a:avLst/>
          </a:prstGeom>
          <a:solidFill>
            <a:srgbClr val="038387">
              <a:alpha val="92000"/>
            </a:srgbClr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1500000">
            <a:off x="10128352" y="3033522"/>
            <a:ext cx="1020470" cy="396850"/>
          </a:xfrm>
          <a:prstGeom prst="ellipse">
            <a:avLst/>
          </a:prstGeom>
          <a:solidFill>
            <a:srgbClr val="67A17B">
              <a:alpha val="90000"/>
            </a:srgbClr>
          </a:solidFill>
          <a:ln w="12700">
            <a:solidFill>
              <a:srgbClr val="67A17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380000">
            <a:off x="9391345" y="3855568"/>
            <a:ext cx="1020470" cy="396850"/>
          </a:xfrm>
          <a:prstGeom prst="ellipse">
            <a:avLst/>
          </a:prstGeom>
          <a:solidFill>
            <a:srgbClr val="107C41">
              <a:alpha val="94000"/>
            </a:srgbClr>
          </a:solidFill>
          <a:ln w="1270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1320000">
            <a:off x="8321040" y="5056632"/>
            <a:ext cx="402336" cy="182880"/>
          </a:xfrm>
          <a:prstGeom prst="ellipse">
            <a:avLst/>
          </a:prstGeom>
          <a:solidFill>
            <a:srgbClr val="78BE20">
              <a:alpha val="97000"/>
            </a:srgbClr>
          </a:solidFill>
          <a:ln w="12700">
            <a:solidFill>
              <a:srgbClr val="78BE2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140000">
            <a:off x="9144000" y="5321808"/>
            <a:ext cx="475488" cy="201168"/>
          </a:xfrm>
          <a:prstGeom prst="ellipse">
            <a:avLst/>
          </a:prstGeom>
          <a:solidFill>
            <a:srgbClr val="32B7C8">
              <a:alpha val="97000"/>
            </a:srgbClr>
          </a:solidFill>
          <a:ln w="1270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020000">
            <a:off x="10149840" y="5029200"/>
            <a:ext cx="457200" cy="182880"/>
          </a:xfrm>
          <a:prstGeom prst="ellipse">
            <a:avLst/>
          </a:prstGeom>
          <a:solidFill>
            <a:srgbClr val="FFB900">
              <a:alpha val="98000"/>
            </a:srgbClr>
          </a:solidFill>
          <a:ln w="1270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380000">
            <a:off x="11018520" y="5358384"/>
            <a:ext cx="384048" cy="182880"/>
          </a:xfrm>
          <a:prstGeom prst="ellipse">
            <a:avLst/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61904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D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Presentacion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CONTEXTO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lecturas aisladas a una historia analitica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es simular el recorrido completo: generar, ingerir, depurar, agregar y presentar telemetria.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938528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984248"/>
            <a:ext cx="64008" cy="2121408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215798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6C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" y="32369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virtuales producen lecturas con fecha, parcela y variables ambientales.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1938528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984248"/>
            <a:ext cx="64008" cy="2121408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0016" y="215798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383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4700016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Confiar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700016" y="32369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conserva la entrada; Silver tipa, valida, deduplica y aparta anomalias.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1938528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984248"/>
            <a:ext cx="64008" cy="2121408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0496" y="215798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6B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8540496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2369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resume el comportamiento por fecha, parcela y cultivo para Power BI.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4681728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E7F3EC"/>
          </a:solidFill>
          <a:ln w="10160">
            <a:solidFill>
              <a:srgbClr val="E7F3EC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49011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359152" y="4828032"/>
            <a:ext cx="8668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¿Como convertimos 180.000 eventos sinteticos en un reporte util y reproducible?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SIMULACION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huerta sintetica, con escala y tiempo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productor publica telemetria historica una sola vez y luego mantiene un flujo de eventos actuales.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182880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1975104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6C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542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 historicos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ayer UTC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38144" y="182880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38144" y="18745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21024" y="1975104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383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621024" y="2542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por dia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21024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Distribuidos en 24 horas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82880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8745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1975104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6B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180.000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542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iniciales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Backfill ya verificado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97696" y="182880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97696" y="18745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0576" y="1975104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7C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/ 5 s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2542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/ ciclo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Telemetria en vivo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3657600"/>
            <a:ext cx="6492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37033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C74643"/>
          </a:solidFill>
          <a:ln w="10160">
            <a:solidFill>
              <a:srgbClr val="C74643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2688" y="38953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de calidad intencional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" y="4352544"/>
            <a:ext cx="570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20 eventos se genera una humedad de suelo de 125% para probar la cuarentena.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89520" y="4087368"/>
            <a:ext cx="3566160" cy="292608"/>
          </a:xfrm>
          <a:prstGeom prst="roundRect">
            <a:avLst>
              <a:gd name="adj" fmla="val 25000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7372" y="4087368"/>
            <a:ext cx="178308" cy="292608"/>
          </a:xfrm>
          <a:prstGeom prst="roundRect">
            <a:avLst>
              <a:gd name="adj" fmla="val 41026"/>
            </a:avLst>
          </a:prstGeom>
          <a:solidFill>
            <a:srgbClr val="C74643"/>
          </a:solidFill>
          <a:ln w="10160">
            <a:solidFill>
              <a:srgbClr val="C74643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507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7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dentro de regla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012680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46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cuarentena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4937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 por configuracion; no representa una recomendacion agronomica.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ARQUITECTURA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flujo continuo; transformacion orquestada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ingestion es streaming. La preparacion medallion se ejecuta como trabajo Spark desde un pipeline.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Productor Python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sensores virtuales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44368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4368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Eventstream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127248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endpoint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+ SASL_SSL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85232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68112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7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68112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telemetry_bronze_raw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26096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6096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08976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Spark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808976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· cuarentena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· dim_fecha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966960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66960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6B4FA1"/>
          </a:solidFill>
          <a:ln w="10160">
            <a:solidFill>
              <a:srgbClr val="6B4FA1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49840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4F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semantico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Gold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96896" y="2624328"/>
            <a:ext cx="274320" cy="0"/>
          </a:xfrm>
          <a:prstGeom prst="line">
            <a:avLst/>
          </a:prstGeom>
          <a:noFill/>
          <a:ln w="2032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37760" y="2624328"/>
            <a:ext cx="274320" cy="0"/>
          </a:xfrm>
          <a:prstGeom prst="line">
            <a:avLst/>
          </a:prstGeom>
          <a:noFill/>
          <a:ln w="2032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278624" y="2624328"/>
            <a:ext cx="274320" cy="0"/>
          </a:xfrm>
          <a:prstGeom prst="line">
            <a:avLst/>
          </a:prstGeom>
          <a:noFill/>
          <a:ln w="2032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19488" y="2624328"/>
            <a:ext cx="274320" cy="0"/>
          </a:xfrm>
          <a:prstGeom prst="line">
            <a:avLst/>
          </a:prstGeom>
          <a:noFill/>
          <a:ln w="2032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669280" y="3950208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E7F3EC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3995928"/>
            <a:ext cx="64008" cy="713232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9788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Fabric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897880" y="4370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 el notebook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3931920"/>
            <a:ext cx="1828800" cy="-713232"/>
          </a:xfrm>
          <a:prstGeom prst="line">
            <a:avLst/>
          </a:prstGeom>
          <a:noFill/>
          <a:ln w="15240">
            <a:solidFill>
              <a:srgbClr val="038387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713232" y="17282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3072384" y="17282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FABRIC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040112" y="17282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6B4F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ANALITICA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8368" y="530352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" y="54681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API HTTP ni ngrok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2834640" y="5468112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contenedor abre una conexion saliente al endpoint Kafka administrado por Fabric.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PRODUCTOR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concentra la simulacion y el acceso Kafka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Configuracion por variables de entorno; la connection string nunca se incluye en la imagen ni en Git.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828800"/>
            <a:ext cx="55778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874520"/>
            <a:ext cx="64008" cy="333756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05-docker-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652" y="1956816"/>
            <a:ext cx="4416697" cy="28986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04672" y="4946904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Ejecucion real: backfill persistido y ciclos en vivo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0" y="18288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1874520"/>
            <a:ext cx="64008" cy="1737360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2075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SASL del productor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876288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065008" y="2542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SASL_SSL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876288" y="2807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065008" y="28072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76288" y="30723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65008" y="30723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$ConnectionString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876288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Secreto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065008" y="33375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KAFKA_CONNECTION_STRING en .env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583680" y="3913632"/>
            <a:ext cx="4937760" cy="1344168"/>
          </a:xfrm>
          <a:prstGeom prst="roundRect">
            <a:avLst>
              <a:gd name="adj" fmla="val 5442"/>
            </a:avLst>
          </a:prstGeom>
          <a:solidFill>
            <a:srgbClr val="E7F3EC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3959352"/>
            <a:ext cx="64008" cy="1252728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0" y="41330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Backfill de una sola vez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455371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volumen simulator-state guarda el marcador. Reiniciar no duplica el historico.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" y="563270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mostrar la connection string en capturas, logs compartidos o commits.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INGESTION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Eventstream recibe; Lakehouse conserva Bronze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Configuracion manual desde Fabric: Custom endpoint, protocolo Kafka y destino Lakehouse.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810512"/>
            <a:ext cx="69037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856232"/>
            <a:ext cx="64008" cy="4023360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01-workspace-event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693" y="1938528"/>
            <a:ext cx="6497055" cy="35844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8952" y="56144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Eventstream publicado con destino Lakehouse y preview de eventos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845552" y="182880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45552" y="1874520"/>
            <a:ext cx="64008" cy="86868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01584" y="20299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Fuente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101584" y="2368296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dockerHuertaSource · Kafka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845552" y="2999232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45552" y="3044952"/>
            <a:ext cx="64008" cy="868680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1584" y="32004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7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Destino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101584" y="3538728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lakehouseHuerta · JSON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845552" y="4169664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45552" y="4215384"/>
            <a:ext cx="64008" cy="868680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01584" y="437083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Bronze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101584" y="47091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datosCrudos.telemetry_bronze_raw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TRANSFORMACION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Medallion convierte telemetria en datos confiables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notebook procesa la tabla de aterrizaje y deja productos separados para analisis y auditoria.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057400"/>
            <a:ext cx="3182112" cy="2880360"/>
          </a:xfrm>
          <a:prstGeom prst="roundRect">
            <a:avLst>
              <a:gd name="adj" fmla="val 2540"/>
            </a:avLst>
          </a:prstGeom>
          <a:solidFill>
            <a:srgbClr val="FFF0E4"/>
          </a:solidFill>
          <a:ln w="10160">
            <a:solidFill>
              <a:srgbClr val="FFF0E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103120"/>
            <a:ext cx="64008" cy="2788920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" y="2697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telemetry_bronze_raw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341985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original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3858768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8992" y="3803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llegada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4297680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para reproceso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98848" y="2057400"/>
            <a:ext cx="3182112" cy="2880360"/>
          </a:xfrm>
          <a:prstGeom prst="roundRect">
            <a:avLst>
              <a:gd name="adj" fmla="val 2540"/>
            </a:avLst>
          </a:prstGeom>
          <a:solidFill>
            <a:srgbClr val="E6F5F1"/>
          </a:solidFill>
          <a:ln w="10160">
            <a:solidFill>
              <a:srgbClr val="E6F5F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2103120"/>
            <a:ext cx="64008" cy="2788920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27448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2697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telemetry_silver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45736" y="341985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56048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normalizados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45736" y="3858768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56048" y="3803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 de rangos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45736" y="4297680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56048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Deduplicacion por event_id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75904" y="2057400"/>
            <a:ext cx="3182112" cy="2880360"/>
          </a:xfrm>
          <a:prstGeom prst="roundRect">
            <a:avLst>
              <a:gd name="adj" fmla="val 2540"/>
            </a:avLst>
          </a:prstGeom>
          <a:solidFill>
            <a:srgbClr val="EAF3FC"/>
          </a:solidFill>
          <a:ln w="1016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2103120"/>
            <a:ext cx="64008" cy="278892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04504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604504" y="2697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telemetry_gold_daily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622792" y="341985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33104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Agregacion por fecha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22792" y="3858768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33104" y="3803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Parcela y cultivo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22792" y="4297680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33104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para Power BI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840480" y="3520440"/>
            <a:ext cx="530352" cy="0"/>
          </a:xfrm>
          <a:prstGeom prst="line">
            <a:avLst/>
          </a:prstGeom>
          <a:noFill/>
          <a:ln w="1905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726680" y="3520440"/>
            <a:ext cx="502920" cy="0"/>
          </a:xfrm>
          <a:prstGeom prst="line">
            <a:avLst/>
          </a:prstGeom>
          <a:noFill/>
          <a:ln w="1905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24128" y="5321808"/>
            <a:ext cx="100584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261872" y="55046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calidad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743200" y="55046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 −10..60 °C  ·  Humedad 0..100%  ·  pH 0..14  ·  Bateria 0..100%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ORQUESTACION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+ pipeline: ejecucion repetible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actividad Notebook activa el procesamiento bajo demanda o mediante una programacion en Fabric.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1847088"/>
            <a:ext cx="548640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92808"/>
            <a:ext cx="64008" cy="3310128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07-notebook-medall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520" y="1975104"/>
            <a:ext cx="5166945" cy="287121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4937760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PySpark ejecutado sobre el Lakehouse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1847088"/>
            <a:ext cx="521208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1892808"/>
            <a:ext cx="64008" cy="3310128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pic>
        <p:nvPicPr>
          <p:cNvPr id="20" name="Image 1" descr="C:\Users\saenz\Documents\proyecto final\docs\images\08-pipeline-suc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93173"/>
            <a:ext cx="4937760" cy="283507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519672" y="493776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con actividad Notebook en estado exitoso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58368" y="5513832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E7F3EC"/>
          </a:solidFill>
          <a:ln w="10160">
            <a:solidFill>
              <a:srgbClr val="E7F3EC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14400" y="56509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pipeline, una actividad Notebook, cuatro salidas: Silver · cuarentena · Gold · calendario.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MODELO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dimension calendario desbloquea el analisis mensual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y dim_fecha se relacionan en el modelo semantico Direct Lake on SQL.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82880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874520"/>
            <a:ext cx="64008" cy="3337560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09-gold-and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63" y="1956816"/>
            <a:ext cx="5087794" cy="28986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8952" y="4946904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diario y calendario fisico en el Lakehouse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91072" y="182880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91072" y="1874520"/>
            <a:ext cx="64008" cy="3337560"/>
          </a:xfrm>
          <a:prstGeom prst="roundRect">
            <a:avLst>
              <a:gd name="adj" fmla="val 114286"/>
            </a:avLst>
          </a:prstGeom>
          <a:solidFill>
            <a:srgbClr val="6B4FA1"/>
          </a:solidFill>
          <a:ln w="10160">
            <a:solidFill>
              <a:srgbClr val="6B4FA1">
                <a:alpha val="0"/>
              </a:srgbClr>
            </a:solidFill>
            <a:prstDash val="solid"/>
          </a:ln>
        </p:spPr>
      </p:sp>
      <p:pic>
        <p:nvPicPr>
          <p:cNvPr id="20" name="Image 1" descr="C:\Users\saenz\Documents\proyecto final\docs\images\10-semantic-mod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14798"/>
            <a:ext cx="5029200" cy="27826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55664" y="4946904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 de fecha hacia la tabla Gold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13232" y="5468112"/>
            <a:ext cx="10698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24128" y="5650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dim_fecha[date]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813048" y="56327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160520" y="5733288"/>
            <a:ext cx="3355848" cy="0"/>
          </a:xfrm>
          <a:prstGeom prst="line">
            <a:avLst/>
          </a:prstGeom>
          <a:noFill/>
          <a:ln w="20320">
            <a:solidFill>
              <a:srgbClr val="038387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7735824" y="56327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138160" y="5650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telemetry_gold_daily[event_date]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CONSUMO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muestra patrones por fecha, parcela y cultivo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reporte usa medidas ponderadas para resumir Gold sin sesgo por distinto volumen de lecturas.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1783080"/>
            <a:ext cx="7680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28800"/>
            <a:ext cx="64008" cy="425196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11-power-bi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102" y="1911096"/>
            <a:ext cx="6846340" cy="38130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5815584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real construido sobre sm_huerta_gold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613648" y="1965960"/>
            <a:ext cx="2852928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13648" y="2011680"/>
            <a:ext cx="64008" cy="850392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851392" y="218541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DIARIO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851392" y="24688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Humedad · lecturas · parcela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613648" y="3136392"/>
            <a:ext cx="2852928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13648" y="3182112"/>
            <a:ext cx="64008" cy="850392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851392" y="33558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851392" y="36393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· cultivo · comparacion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613648" y="4306824"/>
            <a:ext cx="2852928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13648" y="4352544"/>
            <a:ext cx="64008" cy="850392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51392" y="4526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MENSUAL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851392" y="4809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 &gt; Mes, compartido entre paginas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DECISIONES TECNICAS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Reproducible, seguro y honesto sobre sus limites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diseno separa secretos, estado local, ingesta continua y computo Spark.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1810512"/>
            <a:ext cx="6720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56232"/>
            <a:ext cx="64008" cy="603504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7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Reproducibilidad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87168" y="19019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fija runtime, dependencia y variables; el volumen conserva el marcador del backfill.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2688336"/>
            <a:ext cx="6720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734056"/>
            <a:ext cx="64008" cy="603504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27980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487168" y="27797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 vive en .env local. No se sube, ni se incluye en imagenes, PPT o Git.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566160"/>
            <a:ext cx="6720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11880"/>
            <a:ext cx="64008" cy="603504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36758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487168" y="36576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deterministas, deduplicacion y cuarentena hacen visible el tratamiento de anomalías.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4443984"/>
            <a:ext cx="6720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489704"/>
            <a:ext cx="64008" cy="603504"/>
          </a:xfrm>
          <a:prstGeom prst="roundRect">
            <a:avLst>
              <a:gd name="adj" fmla="val 114286"/>
            </a:avLst>
          </a:prstGeom>
          <a:solidFill>
            <a:srgbClr val="6B4FA1"/>
          </a:solidFill>
          <a:ln w="10160">
            <a:solidFill>
              <a:srgbClr val="6B4FA1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2688" y="45537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4F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487168" y="45354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Eventstream ingiere; Spark requiere capacidad libre. El error 430 se gestiona desde Monitoring.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90688" y="187452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103B2E"/>
          </a:solidFill>
          <a:ln w="10160">
            <a:solidFill>
              <a:srgbClr val="103B2E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19872" y="22128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9D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AFIRMA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119872" y="2724912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 sistema IoT de produccion.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API HTTP local.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entrega recomendaciones agronomicas.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4572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D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demostracion academica del flujo de datos.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103B2E"/>
          </a:solidFill>
          <a:ln w="10160">
            <a:solidFill>
              <a:srgbClr val="103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97680" cy="6858000"/>
          </a:xfrm>
          <a:prstGeom prst="rect">
            <a:avLst>
              <a:gd name="adj" fmla="val 1702"/>
            </a:avLst>
          </a:prstGeom>
          <a:solidFill>
            <a:srgbClr val="174D3C"/>
          </a:solidFill>
          <a:ln w="10160">
            <a:solidFill>
              <a:srgbClr val="174D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02920"/>
            <a:ext cx="90526" cy="90526"/>
          </a:xfrm>
          <a:prstGeom prst="roundRect">
            <a:avLst>
              <a:gd name="adj" fmla="val 80808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9069" y="502920"/>
            <a:ext cx="90526" cy="90526"/>
          </a:xfrm>
          <a:prstGeom prst="roundRect">
            <a:avLst>
              <a:gd name="adj" fmla="val 80808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770" y="502920"/>
            <a:ext cx="90526" cy="90526"/>
          </a:xfrm>
          <a:prstGeom prst="roundRect">
            <a:avLst>
              <a:gd name="adj" fmla="val 80808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3621"/>
            <a:ext cx="90526" cy="90526"/>
          </a:xfrm>
          <a:prstGeom prst="roundRect">
            <a:avLst>
              <a:gd name="adj" fmla="val 80808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9" y="623621"/>
            <a:ext cx="90526" cy="90526"/>
          </a:xfrm>
          <a:prstGeom prst="roundRect">
            <a:avLst>
              <a:gd name="adj" fmla="val 80808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0821" y="497891"/>
            <a:ext cx="7644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399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8D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874520"/>
            <a:ext cx="6217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datos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sinteticos a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visibles.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6908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5E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→ Eventstream → Lakehouse → Medallion → Power BI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57241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0199218" y="4167378"/>
            <a:ext cx="0" cy="-2055114"/>
          </a:xfrm>
          <a:prstGeom prst="line">
            <a:avLst/>
          </a:prstGeom>
          <a:noFill/>
          <a:ln w="27940">
            <a:solidFill>
              <a:srgbClr val="8FB89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 rot="-1680000">
            <a:off x="9292133" y="2608326"/>
            <a:ext cx="1020470" cy="396850"/>
          </a:xfrm>
          <a:prstGeom prst="ellipse">
            <a:avLst/>
          </a:prstGeom>
          <a:solidFill>
            <a:srgbClr val="67A17B">
              <a:alpha val="92000"/>
            </a:srgbClr>
          </a:solidFill>
          <a:ln w="12700">
            <a:solidFill>
              <a:srgbClr val="67A17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560000">
            <a:off x="10128352" y="2253996"/>
            <a:ext cx="1020470" cy="396850"/>
          </a:xfrm>
          <a:prstGeom prst="ellipse">
            <a:avLst/>
          </a:prstGeom>
          <a:solidFill>
            <a:srgbClr val="78BE20">
              <a:alpha val="95000"/>
            </a:srgbClr>
          </a:solidFill>
          <a:ln w="12700">
            <a:solidFill>
              <a:srgbClr val="78BE2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560000">
            <a:off x="9263786" y="3316986"/>
            <a:ext cx="1020470" cy="396850"/>
          </a:xfrm>
          <a:prstGeom prst="ellipse">
            <a:avLst/>
          </a:prstGeom>
          <a:solidFill>
            <a:srgbClr val="038387">
              <a:alpha val="92000"/>
            </a:srgbClr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1500000">
            <a:off x="10128352" y="3033522"/>
            <a:ext cx="1020470" cy="396850"/>
          </a:xfrm>
          <a:prstGeom prst="ellipse">
            <a:avLst/>
          </a:prstGeom>
          <a:solidFill>
            <a:srgbClr val="67A17B">
              <a:alpha val="90000"/>
            </a:srgbClr>
          </a:solidFill>
          <a:ln w="12700">
            <a:solidFill>
              <a:srgbClr val="67A17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380000">
            <a:off x="9391345" y="3855568"/>
            <a:ext cx="1020470" cy="396850"/>
          </a:xfrm>
          <a:prstGeom prst="ellipse">
            <a:avLst/>
          </a:prstGeom>
          <a:solidFill>
            <a:srgbClr val="107C41">
              <a:alpha val="94000"/>
            </a:srgbClr>
          </a:solidFill>
          <a:ln w="1270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98864" y="5029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Gracias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Proyecto universitario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Huerta IoT | De los sensores a la analitica</dc:title>
  <dc:subject>Telemetria sintetica de sensores con Docker y Microsoft Fabric</dc:subject>
  <dc:creator>Proyecto academico Huerta IoT</dc:creator>
  <cp:lastModifiedBy>Proyecto academico Huerta IoT</cp:lastModifiedBy>
  <cp:revision>1</cp:revision>
  <dcterms:created xsi:type="dcterms:W3CDTF">2026-10-21T16:48:08Z</dcterms:created>
  <dcterms:modified xsi:type="dcterms:W3CDTF">2026-10-21T16:48:08Z</dcterms:modified>
</cp:coreProperties>
</file>